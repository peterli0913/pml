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 上半年汇报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500">
                <a:solidFill>
                  <a:srgbClr val="C4D5EC"/>
                </a:solidFill>
                <a:latin typeface="微软雅黑"/>
                <a:ea typeface="微软雅黑"/>
                <a:cs typeface="微软雅黑"/>
              </a:rPr>
              <a:t>凯莱英 · Mid-Year Review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Sandwich 项目管理支持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AA7A"/>
                </a:solidFill>
                <a:latin typeface="微软雅黑"/>
                <a:ea typeface="微软雅黑"/>
                <a:cs typeface="微软雅黑"/>
              </a:rPr>
              <a:t>（本部分内容待补充）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落地推进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上半年整体进展概览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6 大方向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生产管理 AI 应用系统梳理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2 家供应商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深度评估 + 会议对接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/>
          <a:lstStyle/>
          <a:p>
            <a:pPr algn="ctr"/>
            <a:r>
              <a:rPr sz="22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5 类落地方案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含 IT 联合工程化推进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05156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/>
          <a:lstStyle/>
          <a:p>
            <a:pPr algn="ctr"/>
            <a:r>
              <a:rPr sz="22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1 个重点场景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设备预测性维护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方向系统梳理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651760"/>
            <a:ext cx="1956815" cy="1783079"/>
          </a:xfrm>
          <a:prstGeom prst="rect">
            <a:avLst/>
          </a:prstGeom>
          <a:noFill/>
        </p:spPr>
        <p:txBody>
          <a:bodyPr wrap="square" lIns="0" rIns="0" tIns="5000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收敛并系统梳理生产管理 6 大 AI 应用方向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编制思路方案 + 逐项落地推进方案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为集团 AI 布局提供横向蓝图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供应商评估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651760"/>
            <a:ext cx="1956815" cy="1783079"/>
          </a:xfrm>
          <a:prstGeom prst="rect">
            <a:avLst/>
          </a:prstGeom>
          <a:noFill/>
        </p:spPr>
        <p:txBody>
          <a:bodyPr wrap="square" lIns="0" rIns="0" tIns="5000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智现未来（半导体 AI 跨域）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埃森哲（Industry X 智能资产管理）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形成"多供应商组合"合作思路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PdM 推进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651760"/>
            <a:ext cx="1956815" cy="1783079"/>
          </a:xfrm>
          <a:prstGeom prst="rect">
            <a:avLst/>
          </a:prstGeom>
          <a:noFill/>
        </p:spPr>
        <p:txBody>
          <a:bodyPr wrap="square" lIns="0" rIns="0" tIns="5000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结合 DH1 动力站现有基础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完成和利时、信力共擎、埃森哲三方对比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主导埃森哲 PdM 会议后总结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明确 4 类信息 + PoC 推进节奏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01168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跨部门协同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606040"/>
            <a:ext cx="2011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651760"/>
            <a:ext cx="1865376" cy="1783079"/>
          </a:xfrm>
          <a:prstGeom prst="rect">
            <a:avLst/>
          </a:prstGeom>
          <a:noFill/>
        </p:spPr>
        <p:txBody>
          <a:bodyPr wrap="square" lIns="0" rIns="0" tIns="5000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与 IT 联合输出 6 方向工程化实施方案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生产看板系统氨基酸项目功能对接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配合电算化等其他数智化重点工作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大 AI 应用方向 · 系统梳理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生产管理 6 大 AI 应用方向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报告 AI 辅助撰写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63039"/>
            <a:ext cx="2596896" cy="1417319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Campaign Report / MOR / APR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数据源：MES / QMS / LIMS / SAP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底座：LLM + RAG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价值：工时节省 50-70%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技术转移与放大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463039"/>
            <a:ext cx="2596896" cy="1417319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R&amp;D → 中试 → 商业化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输入：R&amp;D 工艺包 + 设备规格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输出：审查清单 + 风险矩阵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价值：NPI 周期 -30%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设备全生命周期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463039"/>
            <a:ext cx="2596896" cy="1417319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含 PdM / 备件 / 验证 / 故障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5 子模块共享一个底座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关键场景：预测性维护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价值：非计划停机 -40%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视觉 AI 操作合规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474720"/>
            <a:ext cx="2596896" cy="1417319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CV + SOP 实时监测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输入：车间 CCTV 视频流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输出：违规实时告警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价值：巡检替代 30-50%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 AI 培训内容生成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3474720"/>
            <a:ext cx="2596896" cy="1417319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SOP → 数字人 → 视频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输入：SOP 文档 + 素材库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输出：分镜脚本 + 视频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价值：制作周期 2 周 → 1 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QC 报告 AI 起草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474720"/>
            <a:ext cx="2596896" cy="1417319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BDCT 升级 · 预测放行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数据源：LIMS + IPC + PAT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底座：多变量预测模型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价值：放行加速 + 报废预警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外部合作 · 供应商深度评估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2 家潜在合作商深度评估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主导对智现未来（半导体 AI 跨域）与埃森哲（Industry X 智能资产管理）两家潜在合作商的深度评估，输出内部评估报告，形成"多供应商组合、凯莱英自主主导"的合作思路。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4114800" cy="45720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智现未来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194560"/>
            <a:ext cx="3968496" cy="274320"/>
          </a:xfrm>
          <a:prstGeom prst="rect">
            <a:avLst/>
          </a:prstGeom>
          <a:noFill/>
        </p:spPr>
        <p:txBody>
          <a:bodyPr wrap="none" tIns="20000" lIns="3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半导体 AI 跨域平移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5603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半导体晶圆厂 AI 软件国产化领先者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1272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核心能力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FDC / RMS / APC / 技术转移 / PdM 算法体系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6941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凯莱英适配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算法层深度突出，制药案例空白需 6-12 月跨域适配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2611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合作定位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算法层最深，可用作 PoC 对照方案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91640"/>
            <a:ext cx="4114800" cy="45720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埃森哲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1488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194560"/>
            <a:ext cx="3968496" cy="274320"/>
          </a:xfrm>
          <a:prstGeom prst="rect">
            <a:avLst/>
          </a:prstGeom>
          <a:noFill/>
        </p:spPr>
        <p:txBody>
          <a:bodyPr wrap="none" tIns="20000" lIns="3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Industry X 智能资产管理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5603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全球咨询与系统集成商 · Industry X 事业部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1272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核心能力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5 智能体协作 · 健康分 + 知识图谱 · 端到端集成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6941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凯莱英适配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不卖硬件不持模型，做端到端集成与变革管理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2611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合作定位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端到端能力最完整，PdM 推进节奏清晰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设备预测性维护 · 重点推进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PdM 三方方案对比与启动准备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29768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PdM 三方方案对比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39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4151376" cy="301752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杭州和利时 · 已对接方案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聚焦 DH1 动力站关键动设备 PdM，覆盖冰机、循环泵、凉水塔、真空泵、离心机等的智能监测与故障诊断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安徽信力共擎 · 已对接方案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关键设备智能监测方案，含硬件安装、软件调试、云平台数据分析及算法迭代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/>
                <a:ea typeface="微软雅黑"/>
                <a:cs typeface="微软雅黑"/>
              </a:rPr>
              <a:t>埃森哲 · 会议交流方案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5 层架构 + 6 阶段闭环：多源信号 → 健康分 → 业务影响 → 智能体根因分析 → 处置建议 → 人工核查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7E3D"/>
                </a:solidFill>
                <a:latin typeface="微软雅黑"/>
                <a:ea typeface="微软雅黑"/>
                <a:cs typeface="微软雅黑"/>
              </a:rPr>
              <a:t>底层：知识图谱与历史数据双向验证机制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启动前需整理 4 类信息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463039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508760"/>
            <a:ext cx="3968496" cy="301752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① 设备清单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厂区 + 设备类型 + 数量 + 关键作用 + 当前维护模式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② 主要故障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按损失 / OEE 排序 Top 5 类故障 + 频次 + 损失估算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③ 数据基础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传感器清单 + 采集频次 + 历史数据时长 + 异常案例数据完整度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④ 先验知识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历史 RCA 报告 + 偏差报告 + FTA / FMEA + 供应商技术资料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下半年推进节奏与关键成果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www.asymchem.com.cn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Stock Code: 002821.SZ / 6821.HK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以"低风险 + 高显示度"为原则推动落地 —— 完成设备预测性维护 4 类信息整理，同步推动 1-2 个短周期方向 PoC，形成实证支撑集团 AI 战略下一步决策。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/>
              </a:rPr>
              <a:t>第 3 季度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468880" cy="118872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信息整理与方案对齐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完成 PdM 4 类信息内部整理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深化三方方案对比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选定 1 个起步设备类型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4495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/>
              </a:rPr>
              <a:t>第 4 季度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468880" cy="118872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PoC 启动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选定的 1 类设备开展概念验证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数据采集 + 算法建模 + 知识图谱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同步启动 1 个短周期方向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103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/>
              </a:rPr>
              <a:t>明年 Q1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468880" cy="118872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试点评估与推广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PoC 结果评估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决定扩展至其他设备 / 厂区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形成集团 AI 战略实证依据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66A"/>
                </a:solidFill>
                <a:latin typeface="微软雅黑"/>
                <a:ea typeface="微软雅黑"/>
                <a:cs typeface="微软雅黑"/>
              </a:rPr>
              <a:t>关键成果目标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短期 · 3-4 季度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4114800"/>
            <a:ext cx="2596896" cy="59436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完成 PdM 4 类信息整理 + 三方深度对比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1-2 个短周期方向 PoC 启动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生产看板氨基酸项目功能上线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2743200" cy="27432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中期 · 明年 H1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114800"/>
            <a:ext cx="2596896" cy="59436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PdM 起步设备 PoC 完成 + 效果评估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至少 1 个 AI 方向进入 Pilot 阶段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供应商合作策略形成明确共识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2743200" cy="27432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30000" bIns="30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长期方向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114800"/>
            <a:ext cx="2596896" cy="594360"/>
          </a:xfrm>
          <a:prstGeom prst="rect">
            <a:avLst/>
          </a:prstGeom>
          <a:noFill/>
        </p:spPr>
        <p:txBody>
          <a:bodyPr wrap="square" tIns="50000" lIns="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6 大 AI 方向按业务优先级分批落地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沉淀凯莱英自主的 AI 应用能力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• 形成"多供应商组合 + 自主主导"格局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