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AI 落地推进 · 2026 上半年汇报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www.asymchem.com.cn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Stock Code: 002821.SZ / 6821.HK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/>
                <a:ea typeface="微软雅黑"/>
              </a:rPr>
              <a:t>上半年整体进展概览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www.asymchem.com.cn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Stock Code: 002821.SZ / 6821.HK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5156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60000" bIns="60000"/>
          <a:lstStyle/>
          <a:p>
            <a:pPr algn="ctr"/>
            <a:r>
              <a:rPr sz="2200" b="1">
                <a:solidFill>
                  <a:srgbClr val="00366A"/>
                </a:solidFill>
                <a:latin typeface="微软雅黑"/>
              </a:rPr>
              <a:t>6 大方向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/>
              </a:rPr>
              <a:t>生产管理 AI 应用系统梳理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05156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60000" bIns="60000"/>
          <a:lstStyle/>
          <a:p>
            <a:pPr algn="ctr"/>
            <a:r>
              <a:rPr sz="2200" b="1">
                <a:solidFill>
                  <a:srgbClr val="00366A"/>
                </a:solidFill>
                <a:latin typeface="微软雅黑"/>
              </a:rPr>
              <a:t>3 家供应商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/>
              </a:rPr>
              <a:t>深度评估 + 会议对接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05156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60000" bIns="60000"/>
          <a:lstStyle/>
          <a:p>
            <a:pPr algn="ctr"/>
            <a:r>
              <a:rPr sz="2200" b="1">
                <a:solidFill>
                  <a:srgbClr val="3263A7"/>
                </a:solidFill>
                <a:latin typeface="微软雅黑"/>
              </a:rPr>
              <a:t>5 类落地方案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/>
              </a:rPr>
              <a:t>含 IT 联合工程化推进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051560"/>
            <a:ext cx="201168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60000" bIns="60000"/>
          <a:lstStyle/>
          <a:p>
            <a:pPr algn="ctr"/>
            <a:r>
              <a:rPr sz="2200" b="1">
                <a:solidFill>
                  <a:srgbClr val="FF7E3D"/>
                </a:solidFill>
                <a:latin typeface="微软雅黑"/>
              </a:rPr>
              <a:t>1 个重点场景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/>
              </a:rPr>
              <a:t>设备预测性维护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8600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① 方向系统梳理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606040"/>
            <a:ext cx="21031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2651760"/>
            <a:ext cx="1956815" cy="1783079"/>
          </a:xfrm>
          <a:prstGeom prst="rect">
            <a:avLst/>
          </a:prstGeom>
          <a:noFill/>
        </p:spPr>
        <p:txBody>
          <a:bodyPr wrap="square" lIns="0" rIns="0" tIns="5000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收敛并系统梳理生产管理 6 大 AI 应用方向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编制思路方案 + 逐项落地推进方案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为集团 AI 布局提供横向蓝图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228600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② 供应商评估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2606040"/>
            <a:ext cx="21031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42032" y="2651760"/>
            <a:ext cx="1956815" cy="1783079"/>
          </a:xfrm>
          <a:prstGeom prst="rect">
            <a:avLst/>
          </a:prstGeom>
          <a:noFill/>
        </p:spPr>
        <p:txBody>
          <a:bodyPr wrap="square" lIns="0" rIns="0" tIns="5000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智现未来（半导体 AI 跨域）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埃森哲（Industry X 智能资产管理）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远景智能（平台级 AI）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形成"多供应商组合"合作思路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28600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③ PdM 推进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606040"/>
            <a:ext cx="21031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2651760"/>
            <a:ext cx="1956815" cy="1783079"/>
          </a:xfrm>
          <a:prstGeom prst="rect">
            <a:avLst/>
          </a:prstGeom>
          <a:noFill/>
        </p:spPr>
        <p:txBody>
          <a:bodyPr wrap="square" lIns="0" rIns="0" tIns="5000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结合 DH1 动力站现有基础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完成和利时、信力共擎、埃森哲三方对比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主导埃森哲 PdM 会议后总结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明确 4 类信息 + PoC 推进节奏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2286000"/>
            <a:ext cx="201168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④ 跨部门协同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06040"/>
            <a:ext cx="20116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651760"/>
            <a:ext cx="1865376" cy="1783079"/>
          </a:xfrm>
          <a:prstGeom prst="rect">
            <a:avLst/>
          </a:prstGeom>
          <a:noFill/>
        </p:spPr>
        <p:txBody>
          <a:bodyPr wrap="square" lIns="0" rIns="0" tIns="5000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与 IT 联合输出 6 方向工程化实施方案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生产看板系统氨基酸项目功能对接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配合电算化等其他数智化重点工作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6 大 AI 应用方向 · 系统梳理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www.asymchem.com.cn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Stock Code: 002821.SZ / 6821.HK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/>
                <a:ea typeface="微软雅黑"/>
              </a:rPr>
              <a:t>生产管理 6 大 AI 应用方向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www.asymchem.com.cn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Stock Code: 002821.SZ / 6821.HK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2743200" cy="3657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① 报告 AI 辅助撰写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19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463039"/>
            <a:ext cx="2596896" cy="1417319"/>
          </a:xfrm>
          <a:prstGeom prst="rect">
            <a:avLst/>
          </a:prstGeom>
          <a:noFill/>
        </p:spPr>
        <p:txBody>
          <a:bodyPr wrap="square" tIns="50000" lIns="0" rIns="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/>
                <a:ea typeface="微软雅黑"/>
                <a:cs typeface="微软雅黑"/>
              </a:rPr>
              <a:t>Campaign Report / MOR / APR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数据源：MES / QMS / LIMS / SAP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底座：LLM + RAG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价值：工时节省 50-70%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051560"/>
            <a:ext cx="2743200" cy="3657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② 技术转移与放大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417319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1463039"/>
            <a:ext cx="2596896" cy="1417319"/>
          </a:xfrm>
          <a:prstGeom prst="rect">
            <a:avLst/>
          </a:prstGeom>
          <a:noFill/>
        </p:spPr>
        <p:txBody>
          <a:bodyPr wrap="square" tIns="50000" lIns="0" rIns="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/>
                <a:ea typeface="微软雅黑"/>
                <a:cs typeface="微软雅黑"/>
              </a:rPr>
              <a:t>R&amp;D → 中试 → 商业化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输入：R&amp;D 工艺包 + 设备规格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输出：审查清单 + 风险矩阵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价值：NPI 周期 -30%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51560"/>
            <a:ext cx="2743200" cy="3657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③ 设备全生命周期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417319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463039"/>
            <a:ext cx="2596896" cy="1417319"/>
          </a:xfrm>
          <a:prstGeom prst="rect">
            <a:avLst/>
          </a:prstGeom>
          <a:noFill/>
        </p:spPr>
        <p:txBody>
          <a:bodyPr wrap="square" tIns="50000" lIns="0" rIns="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/>
                <a:ea typeface="微软雅黑"/>
                <a:cs typeface="微软雅黑"/>
              </a:rPr>
              <a:t>含 PdM / 备件 / 验证 / 故障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5 子模块共享一个底座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关键场景：预测性维护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价值：非计划停机 -40%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63240"/>
            <a:ext cx="2743200" cy="3657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④ 视觉 AI 操作合规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29000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474720"/>
            <a:ext cx="2596896" cy="1417319"/>
          </a:xfrm>
          <a:prstGeom prst="rect">
            <a:avLst/>
          </a:prstGeom>
          <a:noFill/>
        </p:spPr>
        <p:txBody>
          <a:bodyPr wrap="square" tIns="50000" lIns="0" rIns="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/>
                <a:ea typeface="微软雅黑"/>
                <a:cs typeface="微软雅黑"/>
              </a:rPr>
              <a:t>CV + SOP 实时监测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输入：车间 CCTV 视频流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输出：违规实时告警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价值：巡检替代 30-50%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3063240"/>
            <a:ext cx="2743200" cy="3657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⑤ AI 培训内容生成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3429000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73552" y="3474720"/>
            <a:ext cx="2596896" cy="1417319"/>
          </a:xfrm>
          <a:prstGeom prst="rect">
            <a:avLst/>
          </a:prstGeom>
          <a:noFill/>
        </p:spPr>
        <p:txBody>
          <a:bodyPr wrap="square" tIns="50000" lIns="0" rIns="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/>
                <a:ea typeface="微软雅黑"/>
                <a:cs typeface="微软雅黑"/>
              </a:rPr>
              <a:t>SOP → 数字人 → 视频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输入：SOP 文档 + 素材库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输出：分镜脚本 + 视频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价值：制作周期 2 周 → 1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063240"/>
            <a:ext cx="2743200" cy="3657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⑥ QC 报告 AI 起草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3429000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474720"/>
            <a:ext cx="2596896" cy="1417319"/>
          </a:xfrm>
          <a:prstGeom prst="rect">
            <a:avLst/>
          </a:prstGeom>
          <a:noFill/>
        </p:spPr>
        <p:txBody>
          <a:bodyPr wrap="square" tIns="50000" lIns="0" rIns="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/>
                <a:ea typeface="微软雅黑"/>
                <a:cs typeface="微软雅黑"/>
              </a:rPr>
              <a:t>BDCT 升级 · 预测放行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数据源：LIMS + IPC + PAT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底座：多变量预测模型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• 价值：放行加速 + 报废预警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外部合作 · 供应商深度评估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www.asymchem.com.cn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Stock Code: 002821.SZ / 6821.HK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/>
                <a:ea typeface="微软雅黑"/>
              </a:rPr>
              <a:t>3 家潜在合作商深度评估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www.asymchem.com.cn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Stock Code: 002821.SZ / 6821.HK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2788920" cy="41148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智现未来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39"/>
            <a:ext cx="2788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508760"/>
            <a:ext cx="2642615" cy="274320"/>
          </a:xfrm>
          <a:prstGeom prst="rect">
            <a:avLst/>
          </a:prstGeom>
          <a:noFill/>
        </p:spPr>
        <p:txBody>
          <a:bodyPr wrap="none" tIns="20000" lIns="30000">
            <a:spAutoFit/>
          </a:bodyPr>
          <a:lstStyle/>
          <a:p>
            <a:pPr algn="l"/>
            <a:r>
              <a:rPr sz="950" i="1">
                <a:solidFill>
                  <a:srgbClr val="3263A7"/>
                </a:solidFill>
                <a:latin typeface="微软雅黑"/>
                <a:ea typeface="微软雅黑"/>
              </a:rPr>
              <a:t>半导体 AI 跨域平移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828800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定位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半导体晶圆厂 AI 软件国产化领先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487167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核心能力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FDC / RMS / APC / 技术转移 / PdM 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3145536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凯莱英适配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算法层强，制药案例空白需 6-12 月适配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3803904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结论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算法层最深，可做 PoC 对照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051560"/>
            <a:ext cx="2788920" cy="41148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埃森哲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463039"/>
            <a:ext cx="2788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508760"/>
            <a:ext cx="2642615" cy="274320"/>
          </a:xfrm>
          <a:prstGeom prst="rect">
            <a:avLst/>
          </a:prstGeom>
          <a:noFill/>
        </p:spPr>
        <p:txBody>
          <a:bodyPr wrap="none" tIns="20000" lIns="30000">
            <a:spAutoFit/>
          </a:bodyPr>
          <a:lstStyle/>
          <a:p>
            <a:pPr algn="l"/>
            <a:r>
              <a:rPr sz="950" i="1">
                <a:solidFill>
                  <a:srgbClr val="3263A7"/>
                </a:solidFill>
                <a:latin typeface="微软雅黑"/>
                <a:ea typeface="微软雅黑"/>
              </a:rPr>
              <a:t>Industry X 智能资产管理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828800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定位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全球咨询与系统集成商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3552" y="2487167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核心能力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5 智能体协作 · 健康分 + 知识图谱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3552" y="3145536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凯莱英适配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不卖硬件不持模型，做端到端集成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3552" y="3803904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结论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端到端能力最完整，推进节奏清晰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051560"/>
            <a:ext cx="2788920" cy="41148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远景智能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463039"/>
            <a:ext cx="2788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1508760"/>
            <a:ext cx="2642615" cy="274320"/>
          </a:xfrm>
          <a:prstGeom prst="rect">
            <a:avLst/>
          </a:prstGeom>
          <a:noFill/>
        </p:spPr>
        <p:txBody>
          <a:bodyPr wrap="none" tIns="20000" lIns="30000">
            <a:spAutoFit/>
          </a:bodyPr>
          <a:lstStyle/>
          <a:p>
            <a:pPr algn="l"/>
            <a:r>
              <a:rPr sz="950" i="1">
                <a:solidFill>
                  <a:srgbClr val="3263A7"/>
                </a:solidFill>
                <a:latin typeface="微软雅黑"/>
                <a:ea typeface="微软雅黑"/>
              </a:rPr>
              <a:t>平台级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1828800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定位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能源 + 工业 IoT 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2487167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核心能力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EnOS 平台 + 设备数据接入 + AI 算法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145536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凯莱英适配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平台底座能力强，制药领域案例有限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9632" y="3803904"/>
            <a:ext cx="2642615" cy="68580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>
                <a:solidFill>
                  <a:srgbClr val="FF7E3D"/>
                </a:solidFill>
                <a:latin typeface="微软雅黑"/>
                <a:ea typeface="微软雅黑"/>
              </a:rPr>
              <a:t>结论</a:t>
            </a:r>
          </a:p>
          <a:p>
            <a:pPr>
              <a:lnSpc>
                <a:spcPct val="130000"/>
              </a:lnSpc>
            </a:pPr>
            <a:r>
              <a:rPr sz="900">
                <a:solidFill>
                  <a:srgbClr val="0F2B46"/>
                </a:solidFill>
                <a:latin typeface="微软雅黑"/>
                <a:ea typeface="微软雅黑"/>
              </a:rPr>
              <a:t>平台层备选，可结合基础设施规划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设备预测性维护 · 重点推进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www.asymchem.com.cn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Stock Code: 002821.SZ / 6821.HK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/>
                <a:ea typeface="微软雅黑"/>
              </a:rPr>
              <a:t>PdM 三方方案对比与下半年推进节奏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www.asymchem.com.cn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Stock Code: 002821.SZ / 6821.HK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/>
                <a:ea typeface="微软雅黑"/>
                <a:cs typeface="微软雅黑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4206240" cy="3657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PdM 三方方案对比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19"/>
            <a:ext cx="420624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463039"/>
            <a:ext cx="4059935" cy="2971800"/>
          </a:xfrm>
          <a:prstGeom prst="rect">
            <a:avLst/>
          </a:prstGeom>
          <a:noFill/>
        </p:spPr>
        <p:txBody>
          <a:bodyPr wrap="square" tIns="50000" lIns="0" rIns="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263A7"/>
                </a:solidFill>
                <a:latin typeface="微软雅黑"/>
                <a:ea typeface="微软雅黑"/>
                <a:cs typeface="微软雅黑"/>
              </a:rPr>
              <a:t>杭州和利时 · 已对接方案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聚焦 DH1 动力站关键动设备 PdM，含冰机、循环泵、凉水塔、真空泵、离心机等的智能监测与故障诊断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263A7"/>
                </a:solidFill>
                <a:latin typeface="微软雅黑"/>
                <a:ea typeface="微软雅黑"/>
                <a:cs typeface="微软雅黑"/>
              </a:rPr>
              <a:t>安徽信力共擎 · 已对接方案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关键设备智能监测解决方案，含硬件安装、软件设计、云平台数据分析与算法迭代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263A7"/>
                </a:solidFill>
                <a:latin typeface="微软雅黑"/>
                <a:ea typeface="微软雅黑"/>
                <a:cs typeface="微软雅黑"/>
              </a:rPr>
              <a:t>埃森哲 · 会议交流方案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5 层架构 + 6 阶段闭环：多源信号 → 健康分（Health Index 0-100）→ 业务影响评估 → 智能体根因分析 → 处置建议 → 人工核查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底层：知识图谱与数据双向验证机制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51560"/>
            <a:ext cx="4206240" cy="36576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启动前需整理 4 类信息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417319"/>
            <a:ext cx="42062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6592" y="1463039"/>
            <a:ext cx="4059935" cy="1188719"/>
          </a:xfrm>
          <a:prstGeom prst="rect">
            <a:avLst/>
          </a:prstGeom>
          <a:noFill/>
        </p:spPr>
        <p:txBody>
          <a:bodyPr wrap="square" tIns="50000" lIns="0" rIns="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① 设备清单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 厂区 + 设备类型 + 数量 + 关键作用 + 当前维护模式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② 主要故障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 按损失 / OEE 排序 Top 5 类故障 + 频次 + 损失估算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③ 数据基础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 传感器清单 + 采集频次 + 历史数据时长 + 异常案例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④ 先验知识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 RCA 报告 + 偏差报告 + FTA / FMEA + 供应商资料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880360"/>
            <a:ext cx="4206240" cy="3657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30000" bIns="30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下半年推进节奏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3246120"/>
            <a:ext cx="4206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6592" y="3291839"/>
            <a:ext cx="4059935" cy="1143000"/>
          </a:xfrm>
          <a:prstGeom prst="rect">
            <a:avLst/>
          </a:prstGeom>
          <a:noFill/>
        </p:spPr>
        <p:txBody>
          <a:bodyPr wrap="square" tIns="50000" lIns="0" rIns="0" bIns="5000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第 3 季度 · 信息整理与方案对齐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 完成 4 类信息内部整理 + 三方方案深度对比 + 选定 1 个起步设备类型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第 4 季度 · PoC 启动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 数据采集 + 算法建模 + 知识图谱搭建，闭环跑通"预警 → 根因 → 处置"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明年 · 试点评估与推广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   PoC 效果评估 → 决定扩展至其他设备类型 / 厂区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