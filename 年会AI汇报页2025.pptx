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1" r:id="rId3"/>
    <p:sldMasterId id="2147483672" r:id="rId4"/>
    <p:sldMasterId id="2147483683" r:id="rId5"/>
    <p:sldMasterId id="2147483695" r:id="rId6"/>
    <p:sldMasterId id="2147483707" r:id="rId7"/>
    <p:sldMasterId id="2147483719" r:id="rId8"/>
    <p:sldMasterId id="2147483731" r:id="rId9"/>
    <p:sldMasterId id="2147483743" r:id="rId10"/>
    <p:sldMasterId id="2147483755" r:id="rId11"/>
    <p:sldMasterId id="2147483767" r:id="rId12"/>
  </p:sldMasterIdLst>
  <p:notesMasterIdLst>
    <p:notesMasterId r:id="rId14"/>
  </p:notesMasterIdLst>
  <p:sldIdLst>
    <p:sldId id="3441" r:id="rId13"/>
    <p:sldId id="3560" r:id="rId15"/>
    <p:sldId id="3443" r:id="rId16"/>
  </p:sldIdLst>
  <p:sldSz cx="9144000" cy="5143500" type="screen16x9"/>
  <p:notesSz cx="6858000" cy="9144000"/>
  <p:defaultTextStyle>
    <a:defPPr>
      <a:defRPr lang="en-US"/>
    </a:defPPr>
    <a:lvl1pPr algn="l" defTabSz="309880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1pPr>
    <a:lvl2pPr marL="171450" indent="-85725" algn="l" defTabSz="309880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2pPr>
    <a:lvl3pPr marL="342900" indent="-171450" algn="l" defTabSz="309880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3pPr>
    <a:lvl4pPr marL="514350" indent="-257175" algn="l" defTabSz="309880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4pPr>
    <a:lvl5pPr marL="685800" indent="-342900" algn="l" defTabSz="309880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5pPr>
    <a:lvl6pPr marL="85725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6pPr>
    <a:lvl7pPr marL="102870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7pPr>
    <a:lvl8pPr marL="120015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8pPr>
    <a:lvl9pPr marL="137160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5610" userDrawn="1">
          <p15:clr>
            <a:srgbClr val="A4A3A4"/>
          </p15:clr>
        </p15:guide>
        <p15:guide id="2" orient="horz" pos="3023" userDrawn="1">
          <p15:clr>
            <a:srgbClr val="A4A3A4"/>
          </p15:clr>
        </p15:guide>
        <p15:guide id="3" orient="horz" pos="259" userDrawn="1">
          <p15:clr>
            <a:srgbClr val="A4A3A4"/>
          </p15:clr>
        </p15:guide>
        <p15:guide id="4" orient="horz" pos="145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yang Meng" initials="Z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FB5AB"/>
    <a:srgbClr val="00366A"/>
    <a:srgbClr val="2F5A9E"/>
    <a:srgbClr val="F69C0A"/>
    <a:srgbClr val="D9772D"/>
    <a:srgbClr val="386DB4"/>
    <a:srgbClr val="49A0D4"/>
    <a:srgbClr val="92CDFD"/>
    <a:srgbClr val="3C6CB3"/>
    <a:srgbClr val="789E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83" autoAdjust="0"/>
    <p:restoredTop sz="93963" autoAdjust="0"/>
  </p:normalViewPr>
  <p:slideViewPr>
    <p:cSldViewPr snapToGrid="0" snapToObjects="1" showGuides="1">
      <p:cViewPr varScale="1">
        <p:scale>
          <a:sx n="91" d="100"/>
          <a:sy n="91" d="100"/>
        </p:scale>
        <p:origin x="680" y="52"/>
      </p:cViewPr>
      <p:guideLst>
        <p:guide pos="5610"/>
        <p:guide orient="horz" pos="3023"/>
        <p:guide orient="horz" pos="259"/>
        <p:guide orient="horz" pos="145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2" d="100"/>
        <a:sy n="42" d="100"/>
      </p:scale>
      <p:origin x="0" y="-55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3.xml"/><Relationship Id="rId15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66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Shape 67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>
              <a:sym typeface="Helvetica Neue" panose="02000503000000020004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1pPr>
    <a:lvl2pPr marL="278765" indent="-10731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2pPr>
    <a:lvl3pPr marL="42862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3pPr>
    <a:lvl4pPr marL="60007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4pPr>
    <a:lvl5pPr marL="77152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5pPr>
    <a:lvl6pPr indent="428625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6pPr>
    <a:lvl7pPr indent="514350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7pPr>
    <a:lvl8pPr indent="600075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8pPr>
    <a:lvl9pPr indent="685800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rgbClr val="00366A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5" name="TextBox 5"/>
          <p:cNvSpPr txBox="1">
            <a:spLocks noChangeArrowheads="1"/>
          </p:cNvSpPr>
          <p:nvPr userDrawn="1"/>
        </p:nvSpPr>
        <p:spPr bwMode="auto">
          <a:xfrm>
            <a:off x="599474" y="4499850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700" dirty="0">
                <a:solidFill>
                  <a:schemeClr val="bg1"/>
                </a:solidFill>
                <a:ea typeface="宋体" panose="02010600030101010101" pitchFamily="2" charset="-122"/>
              </a:rPr>
              <a:t>Contents</a:t>
            </a:r>
            <a:endParaRPr lang="en-US" altLang="zh-CN" sz="27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6" name="图片 1" descr="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4" y="427857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9" y="591672"/>
            <a:ext cx="1699576" cy="39756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406090" y="4966115"/>
            <a:ext cx="331822" cy="238527"/>
          </a:xfrm>
        </p:spPr>
        <p:txBody>
          <a:bodyPr/>
          <a:lstStyle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FAEDECE0-B3E3-4E93-9B91-9F10B30F5B07}" type="slidenum">
              <a:rPr lang="en-US" altLang="zh-CN" dirty="0" smtClean="0"/>
            </a:fld>
            <a:r>
              <a:rPr lang="en-US" altLang="zh-CN" dirty="0"/>
              <a:t>-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rgbClr val="386DB4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70430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56003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39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33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0.xml"/><Relationship Id="rId6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5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3.xml"/><Relationship Id="rId1" Type="http://schemas.openxmlformats.org/officeDocument/2006/relationships/slideLayout" Target="../slideLayouts/slideLayout44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6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4.xml"/><Relationship Id="rId1" Type="http://schemas.openxmlformats.org/officeDocument/2006/relationships/slideLayout" Target="../slideLayouts/slideLayout55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7.xml"/><Relationship Id="rId12" Type="http://schemas.openxmlformats.org/officeDocument/2006/relationships/theme" Target="../theme/theme7.xml"/><Relationship Id="rId11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5.xml"/><Relationship Id="rId1" Type="http://schemas.openxmlformats.org/officeDocument/2006/relationships/slideLayout" Target="../slideLayouts/slideLayout66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5.xml"/><Relationship Id="rId8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2.xml"/><Relationship Id="rId5" Type="http://schemas.openxmlformats.org/officeDocument/2006/relationships/slideLayout" Target="../slideLayouts/slideLayout81.xml"/><Relationship Id="rId4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9.xml"/><Relationship Id="rId2" Type="http://schemas.openxmlformats.org/officeDocument/2006/relationships/slideLayout" Target="../slideLayouts/slideLayout78.xml"/><Relationship Id="rId12" Type="http://schemas.openxmlformats.org/officeDocument/2006/relationships/theme" Target="../theme/theme8.xml"/><Relationship Id="rId11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86.xml"/><Relationship Id="rId1" Type="http://schemas.openxmlformats.org/officeDocument/2006/relationships/slideLayout" Target="../slideLayouts/slideLayout77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6.xml"/><Relationship Id="rId8" Type="http://schemas.openxmlformats.org/officeDocument/2006/relationships/slideLayout" Target="../slideLayouts/slideLayout95.xml"/><Relationship Id="rId7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3.xml"/><Relationship Id="rId5" Type="http://schemas.openxmlformats.org/officeDocument/2006/relationships/slideLayout" Target="../slideLayouts/slideLayout92.xml"/><Relationship Id="rId4" Type="http://schemas.openxmlformats.org/officeDocument/2006/relationships/slideLayout" Target="../slideLayouts/slideLayout91.xml"/><Relationship Id="rId3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9.xml"/><Relationship Id="rId12" Type="http://schemas.openxmlformats.org/officeDocument/2006/relationships/theme" Target="../theme/theme9.xml"/><Relationship Id="rId11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97.xml"/><Relationship Id="rId1" Type="http://schemas.openxmlformats.org/officeDocument/2006/relationships/slideLayout" Target="../slideLayouts/slideLayout88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7.xml"/><Relationship Id="rId8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100.xml"/><Relationship Id="rId12" Type="http://schemas.openxmlformats.org/officeDocument/2006/relationships/theme" Target="../theme/theme10.xml"/><Relationship Id="rId11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99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8.xml"/><Relationship Id="rId8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16.xml"/><Relationship Id="rId6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13.xml"/><Relationship Id="rId3" Type="http://schemas.openxmlformats.org/officeDocument/2006/relationships/slideLayout" Target="../slideLayouts/slideLayout112.xml"/><Relationship Id="rId2" Type="http://schemas.openxmlformats.org/officeDocument/2006/relationships/slideLayout" Target="../slideLayouts/slideLayout111.xml"/><Relationship Id="rId12" Type="http://schemas.openxmlformats.org/officeDocument/2006/relationships/theme" Target="../theme/theme11.xml"/><Relationship Id="rId11" Type="http://schemas.openxmlformats.org/officeDocument/2006/relationships/slideLayout" Target="../slideLayouts/slideLayout120.xml"/><Relationship Id="rId10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1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microsoft.com/office/2007/relationships/hdphoto" Target="../media/image12.wdp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microsoft.com/office/2007/relationships/hdphoto" Target="../media/image12.wdp"/><Relationship Id="rId2" Type="http://schemas.openxmlformats.org/officeDocument/2006/relationships/image" Target="../media/image11.png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1"/>
          <p:cNvSpPr txBox="1"/>
          <p:nvPr/>
        </p:nvSpPr>
        <p:spPr>
          <a:xfrm>
            <a:off x="-257558" y="4858094"/>
            <a:ext cx="2130084" cy="244041"/>
          </a:xfrm>
          <a:prstGeom prst="rect">
            <a:avLst/>
          </a:prstGeom>
          <a:noFill/>
          <a:ln w="12700">
            <a:noFill/>
          </a:ln>
        </p:spPr>
        <p:txBody>
          <a:bodyPr wrap="square" lIns="17145" rIns="17145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 err="1">
                <a:solidFill>
                  <a:schemeClr val="bg1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www.asymchem.com.cn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    </a:t>
            </a:r>
            <a:endParaRPr lang="en-US" altLang="zh-CN" dirty="0">
              <a:solidFill>
                <a:schemeClr val="bg1"/>
              </a:solidFill>
              <a:latin typeface="Arial" panose="020B0604020202020204"/>
              <a:ea typeface="Arial" panose="020B0604020202020204"/>
              <a:sym typeface="Arial" panose="020B0604020202020204"/>
            </a:endParaRPr>
          </a:p>
        </p:txBody>
      </p:sp>
      <p:sp>
        <p:nvSpPr>
          <p:cNvPr id="3" name="Rectangle 111"/>
          <p:cNvSpPr txBox="1"/>
          <p:nvPr/>
        </p:nvSpPr>
        <p:spPr>
          <a:xfrm>
            <a:off x="7570129" y="4878297"/>
            <a:ext cx="2130083" cy="214995"/>
          </a:xfrm>
          <a:prstGeom prst="rect">
            <a:avLst/>
          </a:prstGeom>
          <a:noFill/>
          <a:ln w="12700">
            <a:noFill/>
          </a:ln>
        </p:spPr>
        <p:txBody>
          <a:bodyPr wrap="square" lIns="17145" rIns="17145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00" dirty="0">
                <a:solidFill>
                  <a:schemeClr val="bg1"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Conﬁdential | </a:t>
            </a:r>
            <a:r>
              <a:rPr lang="zh-CN" altLang="en-US" sz="600" dirty="0">
                <a:solidFill>
                  <a:schemeClr val="bg1"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保密文件</a:t>
            </a:r>
            <a:endParaRPr lang="zh-CN" altLang="en-US" sz="600" dirty="0">
              <a:solidFill>
                <a:schemeClr val="bg1">
                  <a:alpha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" name="Rectangle 111"/>
          <p:cNvSpPr txBox="1"/>
          <p:nvPr/>
        </p:nvSpPr>
        <p:spPr>
          <a:xfrm>
            <a:off x="1018527" y="4874671"/>
            <a:ext cx="2321613" cy="233910"/>
          </a:xfrm>
          <a:prstGeom prst="rect">
            <a:avLst/>
          </a:prstGeom>
          <a:noFill/>
          <a:ln w="12700">
            <a:noFill/>
          </a:ln>
        </p:spPr>
        <p:txBody>
          <a:bodyPr wrap="square" lIns="17145" rIns="17145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0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Stock Code: 002821.SZ / 6821.HK</a:t>
            </a:r>
            <a:endParaRPr lang="en-US" altLang="zh-CN" sz="700" dirty="0">
              <a:solidFill>
                <a:schemeClr val="bg1"/>
              </a:solidFill>
              <a:latin typeface="Arial" panose="020B0604020202020204"/>
              <a:ea typeface="Arial" panose="020B0604020202020204"/>
              <a:sym typeface="Arial" panose="020B0604020202020204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2455" y="281468"/>
            <a:ext cx="3432517" cy="595970"/>
          </a:xfrm>
          <a:prstGeom prst="rect">
            <a:avLst/>
          </a:prstGeom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86216" y="1220262"/>
            <a:ext cx="8325014" cy="1690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288" tIns="14288" rIns="14288" bIns="14288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algn="ctr" eaLnBrk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生产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效率提升汇报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Impact" panose="020B0806030902050204" pitchFamily="34" charset="0"/>
            </a:endParaRPr>
          </a:p>
          <a:p>
            <a:pPr algn="ctr" eaLnBrk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2025.02</a:t>
            </a:r>
            <a:endParaRPr lang="en-US" altLang="zh-CN" sz="3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Impact" panose="020B080603090205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 smtClean="0"/>
              <a:t>-</a:t>
            </a:r>
            <a:endParaRPr lang="zh-CN" altLang="en-US" dirty="0"/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2118225" y="117679"/>
            <a:ext cx="6508979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algn="r"/>
            <a:r>
              <a:rPr lang="en-US" altLang="en-US" sz="2025" b="1" spc="113" dirty="0" smtClean="0">
                <a:solidFill>
                  <a:srgbClr val="0036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25" b="1" spc="113" dirty="0" smtClean="0">
                <a:solidFill>
                  <a:srgbClr val="0036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赋智医药工业</a:t>
            </a:r>
            <a:r>
              <a:rPr lang="en-US" altLang="en-US" sz="2025" b="1" spc="113" dirty="0" smtClean="0">
                <a:solidFill>
                  <a:srgbClr val="0036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4.0</a:t>
            </a:r>
            <a:r>
              <a:rPr lang="zh-CN" altLang="en-US" sz="2025" b="1" spc="113" dirty="0" smtClean="0">
                <a:solidFill>
                  <a:srgbClr val="0036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生产：新一代生产力革命</a:t>
            </a:r>
            <a:endParaRPr lang="zh-CN" altLang="en-US" sz="2025" b="1" spc="113" dirty="0" smtClean="0">
              <a:solidFill>
                <a:srgbClr val="0036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43535" y="80676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sz="180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</a:rPr>
              <a:t>颠覆性应用场景</a:t>
            </a:r>
            <a:endParaRPr sz="1800" i="0">
              <a:solidFill>
                <a:srgbClr val="40404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12750" y="1232535"/>
            <a:ext cx="4907280" cy="107632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sz="1600" b="1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 文职替代革命</a:t>
            </a:r>
            <a:r>
              <a:rPr sz="160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（</a:t>
            </a:r>
            <a:r>
              <a:rPr lang="zh-CN" sz="160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目标</a:t>
            </a:r>
            <a:r>
              <a:rPr sz="160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节省30%人力）</a:t>
            </a:r>
            <a:endParaRPr sz="1600" b="0" i="0">
              <a:solidFill>
                <a:srgbClr val="40404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智能文档系统：自动生成记录/Batch Report</a:t>
            </a:r>
            <a:r>
              <a:rPr lang="zh-CN"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等</a:t>
            </a:r>
            <a:endParaRPr sz="1600" b="0" i="0">
              <a:solidFill>
                <a:srgbClr val="40404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合规AI审核员：24小时自动核查数据完整性</a:t>
            </a:r>
            <a:endParaRPr sz="1600" b="0" i="0">
              <a:solidFill>
                <a:srgbClr val="40404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跨部门数字助理：实时同步生产/QC/仓储数据流</a:t>
            </a:r>
            <a:endParaRPr sz="1600" b="0" i="0">
              <a:solidFill>
                <a:srgbClr val="40404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12750" y="2425065"/>
            <a:ext cx="6673215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sz="1600" b="1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 智造工艺</a:t>
            </a:r>
            <a:r>
              <a:rPr lang="zh-CN" sz="1600" b="1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引擎</a:t>
            </a:r>
            <a:r>
              <a:rPr sz="160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（</a:t>
            </a:r>
            <a:r>
              <a:rPr lang="zh-CN" sz="160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精确辅助</a:t>
            </a:r>
            <a:r>
              <a:rPr sz="160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转移</a:t>
            </a:r>
            <a:r>
              <a:rPr lang="zh-CN" sz="160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过程</a:t>
            </a:r>
            <a:r>
              <a:rPr sz="160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）</a:t>
            </a:r>
            <a:endParaRPr sz="1600" b="0" i="0">
              <a:solidFill>
                <a:srgbClr val="40404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智慧驱动</a:t>
            </a:r>
            <a:r>
              <a:rPr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实验</a:t>
            </a:r>
            <a:r>
              <a:rPr lang="zh-CN"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设计</a:t>
            </a:r>
            <a:r>
              <a:rPr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：AI模拟</a:t>
            </a:r>
            <a:r>
              <a:rPr lang="zh-CN"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推荐指导实验</a:t>
            </a:r>
            <a:endParaRPr sz="1600" b="0" i="0">
              <a:solidFill>
                <a:srgbClr val="40404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知识图谱</a:t>
            </a:r>
            <a:r>
              <a:rPr lang="zh-CN"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指导工艺</a:t>
            </a:r>
            <a:r>
              <a:rPr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：工艺转移智能适配</a:t>
            </a:r>
            <a:endParaRPr sz="1600" b="0" i="0">
              <a:solidFill>
                <a:srgbClr val="40404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12750" y="3371215"/>
            <a:ext cx="6006465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sz="1600" b="1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中枢</a:t>
            </a:r>
            <a:r>
              <a:rPr sz="1600" b="1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分析</a:t>
            </a:r>
            <a:r>
              <a:rPr lang="zh-CN" sz="1600" b="1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调度</a:t>
            </a:r>
            <a:r>
              <a:rPr lang="zh-CN"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（大数据</a:t>
            </a:r>
            <a:r>
              <a:rPr lang="zh-CN"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推动精益</a:t>
            </a:r>
            <a:r>
              <a:rPr lang="zh-CN"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生产）</a:t>
            </a:r>
            <a:endParaRPr sz="1600" b="0" i="0">
              <a:solidFill>
                <a:srgbClr val="40404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预测性维护：设备故障预警</a:t>
            </a:r>
            <a:r>
              <a:rPr lang="zh-CN"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指导维护</a:t>
            </a:r>
            <a:endParaRPr lang="zh-CN" sz="1600" b="0" i="0">
              <a:solidFill>
                <a:srgbClr val="40404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能耗数字孪生：AI优化HVAC/纯水系统</a:t>
            </a:r>
            <a:endParaRPr sz="1600" b="0" i="0">
              <a:solidFill>
                <a:srgbClr val="40404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质量雷达：数据点实时异常检测</a:t>
            </a:r>
            <a:endParaRPr sz="1600" b="0" i="0">
              <a:solidFill>
                <a:srgbClr val="40404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动态排产：提升排产速度和设备</a:t>
            </a:r>
            <a:r>
              <a:rPr lang="zh-CN" altLang="en-US" sz="16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综合利用率</a:t>
            </a:r>
            <a:endParaRPr lang="zh-CN" altLang="en-US" sz="1600" b="0" i="0">
              <a:solidFill>
                <a:srgbClr val="40404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5430" y="1905000"/>
            <a:ext cx="3554730" cy="1992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481016" y="2255609"/>
            <a:ext cx="4181968" cy="582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288" tIns="14288" rIns="14288" bIns="14288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algn="ctr" eaLnBrk="1"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THANKS</a:t>
            </a:r>
            <a:r>
              <a:rPr lang="zh-CN" altLang="en-US" sz="3600" b="1" dirty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！</a:t>
            </a:r>
            <a:endParaRPr lang="en-US" altLang="zh-CN" sz="3600" b="1" dirty="0">
              <a:solidFill>
                <a:schemeClr val="bg1"/>
              </a:solidFill>
              <a:ea typeface="微软雅黑" panose="020B0503020204020204" pitchFamily="34" charset="-122"/>
              <a:cs typeface="Arial" panose="020B0604020202020204" pitchFamily="34" charset="0"/>
              <a:sym typeface="Impact" panose="020B0806030902050204" pitchFamily="34" charset="0"/>
            </a:endParaRPr>
          </a:p>
        </p:txBody>
      </p:sp>
      <p:sp>
        <p:nvSpPr>
          <p:cNvPr id="3" name="Rectangle 111"/>
          <p:cNvSpPr txBox="1"/>
          <p:nvPr/>
        </p:nvSpPr>
        <p:spPr>
          <a:xfrm>
            <a:off x="-257558" y="4858094"/>
            <a:ext cx="2130084" cy="244041"/>
          </a:xfrm>
          <a:prstGeom prst="rect">
            <a:avLst/>
          </a:prstGeom>
          <a:noFill/>
          <a:ln w="12700">
            <a:noFill/>
          </a:ln>
        </p:spPr>
        <p:txBody>
          <a:bodyPr wrap="square" lIns="17145" rIns="17145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 err="1">
                <a:solidFill>
                  <a:schemeClr val="bg1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www.asymchem.com.cn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    </a:t>
            </a:r>
            <a:endParaRPr lang="en-US" altLang="zh-CN" dirty="0">
              <a:solidFill>
                <a:schemeClr val="bg1"/>
              </a:solidFill>
              <a:latin typeface="Arial" panose="020B0604020202020204"/>
              <a:ea typeface="Arial" panose="020B0604020202020204"/>
              <a:sym typeface="Arial" panose="020B0604020202020204"/>
            </a:endParaRPr>
          </a:p>
        </p:txBody>
      </p:sp>
      <p:sp>
        <p:nvSpPr>
          <p:cNvPr id="5" name="Rectangle 111"/>
          <p:cNvSpPr txBox="1"/>
          <p:nvPr/>
        </p:nvSpPr>
        <p:spPr>
          <a:xfrm>
            <a:off x="7570129" y="4878297"/>
            <a:ext cx="2130083" cy="214995"/>
          </a:xfrm>
          <a:prstGeom prst="rect">
            <a:avLst/>
          </a:prstGeom>
          <a:noFill/>
          <a:ln w="12700">
            <a:noFill/>
          </a:ln>
        </p:spPr>
        <p:txBody>
          <a:bodyPr wrap="square" lIns="17145" rIns="17145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00" dirty="0">
                <a:solidFill>
                  <a:schemeClr val="bg1"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Conﬁdential | </a:t>
            </a:r>
            <a:r>
              <a:rPr lang="zh-CN" altLang="en-US" sz="600" dirty="0">
                <a:solidFill>
                  <a:schemeClr val="bg1"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保密文件</a:t>
            </a:r>
            <a:endParaRPr lang="zh-CN" altLang="en-US" sz="600" dirty="0">
              <a:solidFill>
                <a:schemeClr val="bg1">
                  <a:alpha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6" name="Rectangle 111"/>
          <p:cNvSpPr txBox="1"/>
          <p:nvPr/>
        </p:nvSpPr>
        <p:spPr>
          <a:xfrm>
            <a:off x="1018527" y="4874671"/>
            <a:ext cx="2321613" cy="233910"/>
          </a:xfrm>
          <a:prstGeom prst="rect">
            <a:avLst/>
          </a:prstGeom>
          <a:noFill/>
          <a:ln w="12700">
            <a:noFill/>
          </a:ln>
        </p:spPr>
        <p:txBody>
          <a:bodyPr wrap="square" lIns="17145" rIns="17145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0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Stock Code: 002821.SZ / 6821.HK</a:t>
            </a:r>
            <a:endParaRPr lang="en-US" altLang="zh-CN" sz="700" dirty="0">
              <a:solidFill>
                <a:schemeClr val="bg1"/>
              </a:solidFill>
              <a:latin typeface="Arial" panose="020B0604020202020204"/>
              <a:ea typeface="Arial" panose="020B0604020202020204"/>
              <a:sym typeface="Arial" panose="020B0604020202020204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2455" y="281468"/>
            <a:ext cx="3432517" cy="5959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</Words>
  <Application>WPS Presentation</Application>
  <PresentationFormat>全屏显示(16:9)</PresentationFormat>
  <Paragraphs>38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3</vt:i4>
      </vt:variant>
    </vt:vector>
  </HeadingPairs>
  <TitlesOfParts>
    <vt:vector size="28" baseType="lpstr">
      <vt:lpstr>Arial</vt:lpstr>
      <vt:lpstr>宋体</vt:lpstr>
      <vt:lpstr>Wingdings</vt:lpstr>
      <vt:lpstr>Helvetica Neue</vt:lpstr>
      <vt:lpstr>微软雅黑</vt:lpstr>
      <vt:lpstr>Arial</vt:lpstr>
      <vt:lpstr>Helvetica Light</vt:lpstr>
      <vt:lpstr>Helvetica Neue</vt:lpstr>
      <vt:lpstr>Impact</vt:lpstr>
      <vt:lpstr>仿宋</vt:lpstr>
      <vt:lpstr>Wingdings</vt:lpstr>
      <vt:lpstr>Arial Unicode MS</vt:lpstr>
      <vt:lpstr>Arial Black</vt:lpstr>
      <vt:lpstr>黑体</vt:lpstr>
      <vt:lpstr>White</vt:lpstr>
      <vt:lpstr>webwppDefTheme</vt:lpstr>
      <vt:lpstr>1_webwppDefTheme</vt:lpstr>
      <vt:lpstr>2_webwppDefTheme</vt:lpstr>
      <vt:lpstr>3_webwppDefTheme</vt:lpstr>
      <vt:lpstr>4_webwppDefTheme</vt:lpstr>
      <vt:lpstr>5_webwppDefTheme</vt:lpstr>
      <vt:lpstr>6_webwppDefTheme</vt:lpstr>
      <vt:lpstr>7_webwppDefTheme</vt:lpstr>
      <vt:lpstr>8_webwppDefTheme</vt:lpstr>
      <vt:lpstr>9_webwppDefTheme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qianjianghao</dc:creator>
  <cp:lastModifiedBy>李涛</cp:lastModifiedBy>
  <cp:revision>57</cp:revision>
  <cp:lastPrinted>2025-01-18T18:54:00Z</cp:lastPrinted>
  <dcterms:created xsi:type="dcterms:W3CDTF">2025-01-18T18:54:00Z</dcterms:created>
  <dcterms:modified xsi:type="dcterms:W3CDTF">2025-03-04T08:24:24Z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1033-12.2.0.20323</vt:lpwstr>
  </property>
  <property fmtid="{D5CDD505-2E9C-101B-9397-08002B2CF9AE}" pid="3" name="ICV">
    <vt:lpwstr>6CE3AC170A46476F9F966556CB5A9253</vt:lpwstr>
  </property>
</Properties>
</file>