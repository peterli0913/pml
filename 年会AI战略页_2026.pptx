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118872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AI 战略路径：从“点状试点”到“体系化生产力”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768096"/>
            <a:ext cx="8449056" cy="402336"/>
          </a:xfrm>
          <a:prstGeom prst="rect">
            <a:avLst/>
          </a:prstGeom>
          <a:gradFill rotWithShape="1">
            <a:gsLst>
              <a:gs pos="0">
                <a:srgbClr val="00366A"/>
              </a:gs>
              <a:gs pos="100000">
                <a:srgbClr val="3E74B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数据筑基  →  场景验证  →  组合赋能  →  生产力重塑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8595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9EC2EC"/>
                </a:solidFill>
                <a:latin typeface="Arial"/>
                <a:ea typeface="微软雅黑"/>
                <a:cs typeface="微软雅黑"/>
              </a:rPr>
              <a:t>ASYMCHEM AI STRATEGY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4846320" cy="731520"/>
          </a:xfrm>
          <a:prstGeom prst="rect">
            <a:avLst/>
          </a:prstGeom>
          <a:gradFill rotWithShape="1">
            <a:gsLst>
              <a:gs pos="0">
                <a:srgbClr val="FF7E3D"/>
              </a:gs>
              <a:gs pos="100000">
                <a:srgbClr val="FFA87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98448"/>
            <a:ext cx="548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356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7E3D"/>
                </a:solidFill>
                <a:latin typeface="Arial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556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50" b="1">
                <a:solidFill>
                  <a:srgbClr val="6B7A90"/>
                </a:solidFill>
                <a:latin typeface="Arial"/>
                <a:ea typeface="微软雅黑"/>
                <a:cs typeface="微软雅黑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38988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生产力重塑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140817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E4EEFB"/>
                </a:solidFill>
                <a:latin typeface="微软雅黑"/>
                <a:ea typeface="微软雅黑"/>
                <a:cs typeface="微软雅黑"/>
              </a:rPr>
              <a:t>AI 原生的生产运营模式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19072"/>
            <a:ext cx="40416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CFDEF4"/>
                </a:solidFill>
                <a:latin typeface="微软雅黑"/>
                <a:ea typeface="微软雅黑"/>
                <a:cs typeface="微软雅黑"/>
              </a:rPr>
              <a:t>人机协同新分工  ·  决策链路自动化  ·  组织能力升级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103120"/>
            <a:ext cx="4846320" cy="731520"/>
          </a:xfrm>
          <a:prstGeom prst="rect">
            <a:avLst/>
          </a:prstGeom>
          <a:gradFill rotWithShape="1">
            <a:gsLst>
              <a:gs pos="0">
                <a:srgbClr val="2E5FA0"/>
              </a:gs>
              <a:gs pos="100000">
                <a:srgbClr val="5B8FD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2103120"/>
            <a:ext cx="548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2402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2E5FA0"/>
                </a:solidFill>
                <a:latin typeface="Arial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56032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50" b="1">
                <a:solidFill>
                  <a:srgbClr val="6B7A90"/>
                </a:solidFill>
                <a:latin typeface="Arial"/>
                <a:ea typeface="微软雅黑"/>
                <a:cs typeface="微软雅黑"/>
              </a:rP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19456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六大场景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2212848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E4EEFB"/>
                </a:solidFill>
                <a:latin typeface="微软雅黑"/>
                <a:ea typeface="微软雅黑"/>
                <a:cs typeface="微软雅黑"/>
              </a:rPr>
              <a:t>短周期方向先出实证，强监管方向长期布局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6" y="2468879"/>
            <a:ext cx="694944" cy="1920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2494483"/>
            <a:ext cx="69494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2E5FA0"/>
                </a:solidFill>
                <a:latin typeface="微软雅黑"/>
                <a:ea typeface="微软雅黑"/>
                <a:cs typeface="微软雅黑"/>
              </a:rPr>
              <a:t>报告撰写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7652" y="2468879"/>
            <a:ext cx="694944" cy="1920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7652" y="2494483"/>
            <a:ext cx="69494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2E5FA0"/>
                </a:solidFill>
                <a:latin typeface="微软雅黑"/>
                <a:ea typeface="微软雅黑"/>
                <a:cs typeface="微软雅黑"/>
              </a:rPr>
              <a:t>技术转移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32888" y="2468879"/>
            <a:ext cx="694944" cy="1920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32888" y="2494483"/>
            <a:ext cx="69494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2E5FA0"/>
                </a:solidFill>
                <a:latin typeface="微软雅黑"/>
                <a:ea typeface="微软雅黑"/>
                <a:cs typeface="微软雅黑"/>
              </a:rPr>
              <a:t>设备管理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" y="2702051"/>
            <a:ext cx="694944" cy="1920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2727655"/>
            <a:ext cx="69494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2E5FA0"/>
                </a:solidFill>
                <a:latin typeface="微软雅黑"/>
                <a:ea typeface="微软雅黑"/>
                <a:cs typeface="微软雅黑"/>
              </a:rPr>
              <a:t>视觉合规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87652" y="2702051"/>
            <a:ext cx="694944" cy="1920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7652" y="2727655"/>
            <a:ext cx="69494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2E5FA0"/>
                </a:solidFill>
                <a:latin typeface="微软雅黑"/>
                <a:ea typeface="微软雅黑"/>
                <a:cs typeface="微软雅黑"/>
              </a:rPr>
              <a:t>培训生成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32888" y="2702051"/>
            <a:ext cx="694944" cy="1920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32888" y="2727655"/>
            <a:ext cx="69494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>
                <a:solidFill>
                  <a:srgbClr val="2E5FA0"/>
                </a:solidFill>
                <a:latin typeface="微软雅黑"/>
                <a:ea typeface="微软雅黑"/>
                <a:cs typeface="微软雅黑"/>
              </a:rPr>
              <a:t>QC 放行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4991" y="248716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CFDEF4"/>
                </a:solidFill>
                <a:latin typeface="微软雅黑"/>
                <a:ea typeface="微软雅黑"/>
                <a:cs typeface="微软雅黑"/>
              </a:rPr>
              <a:t>逐项形成落地方案
场景可独立立项、可组合推进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2907791"/>
            <a:ext cx="4846320" cy="731520"/>
          </a:xfrm>
          <a:prstGeom prst="rect">
            <a:avLst/>
          </a:prstGeom>
          <a:gradFill rotWithShape="1">
            <a:gsLst>
              <a:gs pos="0">
                <a:srgbClr val="00366A"/>
              </a:gs>
              <a:gs pos="100000">
                <a:srgbClr val="1E4E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2907791"/>
            <a:ext cx="5486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044951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366A"/>
                </a:solidFill>
                <a:latin typeface="Arial"/>
                <a:ea typeface="微软雅黑"/>
                <a:cs typeface="微软雅黑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36499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50" b="1">
                <a:solidFill>
                  <a:srgbClr val="6B7A90"/>
                </a:solidFill>
                <a:latin typeface="Arial"/>
                <a:ea typeface="微软雅黑"/>
                <a:cs typeface="微软雅黑"/>
              </a:rPr>
              <a:t>FOUNDATION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299923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数据与平台底座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456" y="301752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E4EEFB"/>
                </a:solidFill>
                <a:latin typeface="微软雅黑"/>
                <a:ea typeface="微软雅黑"/>
                <a:cs typeface="微软雅黑"/>
              </a:rPr>
              <a:t>数据打通  ·  知识图谱  ·  算力与合规框架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3328415"/>
            <a:ext cx="40416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CFDEF4"/>
                </a:solidFill>
                <a:latin typeface="微软雅黑"/>
                <a:ea typeface="微软雅黑"/>
                <a:cs typeface="微软雅黑"/>
              </a:rPr>
              <a:t>MES / QMS / LIMS / EAM 数据贯通  ·  专家经验结构化  ·  GxP 验证路径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1947672" y="2040940"/>
            <a:ext cx="82296" cy="59436"/>
          </a:xfrm>
          <a:prstGeom prst="triangle">
            <a:avLst/>
          </a:prstGeom>
          <a:solidFill>
            <a:srgbClr val="B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1947672" y="2845612"/>
            <a:ext cx="82296" cy="59436"/>
          </a:xfrm>
          <a:prstGeom prst="triangle">
            <a:avLst/>
          </a:prstGeom>
          <a:solidFill>
            <a:srgbClr val="B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3227832" y="2040940"/>
            <a:ext cx="82296" cy="59436"/>
          </a:xfrm>
          <a:prstGeom prst="triangle">
            <a:avLst/>
          </a:prstGeom>
          <a:solidFill>
            <a:srgbClr val="B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227832" y="2845612"/>
            <a:ext cx="82296" cy="59436"/>
          </a:xfrm>
          <a:prstGeom prst="triangle">
            <a:avLst/>
          </a:prstGeom>
          <a:solidFill>
            <a:srgbClr val="B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4507992" y="2040940"/>
            <a:ext cx="82296" cy="59436"/>
          </a:xfrm>
          <a:prstGeom prst="triangle">
            <a:avLst/>
          </a:prstGeom>
          <a:solidFill>
            <a:srgbClr val="B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4507992" y="2845612"/>
            <a:ext cx="82296" cy="59436"/>
          </a:xfrm>
          <a:prstGeom prst="triangle">
            <a:avLst/>
          </a:prstGeom>
          <a:solidFill>
            <a:srgbClr val="B9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13.png"/>
          <p:cNvPicPr>
            <a:picLocks noChangeAspect="1"/>
          </p:cNvPicPr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5376672" y="1298448"/>
            <a:ext cx="3419856" cy="694944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376672" y="1298448"/>
            <a:ext cx="3419856" cy="694944"/>
          </a:xfrm>
          <a:prstGeom prst="rect">
            <a:avLst/>
          </a:prstGeom>
          <a:noFill/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76672" y="1755648"/>
            <a:ext cx="3419856" cy="237744"/>
          </a:xfrm>
          <a:prstGeom prst="rect">
            <a:avLst/>
          </a:prstGeom>
          <a:gradFill rotWithShape="1">
            <a:gsLst>
              <a:gs pos="0">
                <a:srgbClr val="00366A"/>
              </a:gs>
              <a:gs pos="100000">
                <a:srgbClr val="2E5FA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783080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医药工业 4.0：数据驱动的智能工厂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6672" y="2084831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推进机制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76672" y="2322576"/>
            <a:ext cx="457200" cy="25603"/>
          </a:xfrm>
          <a:prstGeom prst="rect">
            <a:avLst/>
          </a:prstGeom>
          <a:solidFill>
            <a:srgbClr val="FF7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76672" y="2414015"/>
            <a:ext cx="3419856" cy="502920"/>
          </a:xfrm>
          <a:prstGeom prst="rect">
            <a:avLst/>
          </a:prstGeom>
          <a:solidFill>
            <a:srgbClr val="F7FAFE"/>
          </a:solidFill>
          <a:ln w="6350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76672" y="2414015"/>
            <a:ext cx="45720" cy="502920"/>
          </a:xfrm>
          <a:prstGeom prst="rect">
            <a:avLst/>
          </a:prstGeom>
          <a:solidFill>
            <a:srgbClr val="326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95544" y="2455163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7E3D"/>
                </a:solidFill>
                <a:latin typeface="Arial"/>
                <a:ea typeface="微软雅黑"/>
                <a:cs typeface="微软雅黑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7296" y="2450591"/>
            <a:ext cx="288950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自主主导 + 组合外采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97296" y="2651759"/>
            <a:ext cx="2871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底座与知识资产自建自持；算法、工具按场景择优组合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76672" y="2976372"/>
            <a:ext cx="3419856" cy="502920"/>
          </a:xfrm>
          <a:prstGeom prst="rect">
            <a:avLst/>
          </a:prstGeom>
          <a:solidFill>
            <a:srgbClr val="F7FAFE"/>
          </a:solidFill>
          <a:ln w="6350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76672" y="2976372"/>
            <a:ext cx="45720" cy="502920"/>
          </a:xfrm>
          <a:prstGeom prst="rect">
            <a:avLst/>
          </a:prstGeom>
          <a:solidFill>
            <a:srgbClr val="326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95544" y="301752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7E3D"/>
                </a:solidFill>
                <a:latin typeface="Arial"/>
                <a:ea typeface="微软雅黑"/>
                <a:cs typeface="微软雅黑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7296" y="3012948"/>
            <a:ext cx="288950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双轨并行：快赢 + 长跑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7296" y="3214115"/>
            <a:ext cx="2871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短周期方向季度出实证；强监管方向按合规节奏推进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76672" y="3538728"/>
            <a:ext cx="3419856" cy="502920"/>
          </a:xfrm>
          <a:prstGeom prst="rect">
            <a:avLst/>
          </a:prstGeom>
          <a:solidFill>
            <a:srgbClr val="F7FAFE"/>
          </a:solidFill>
          <a:ln w="6350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76672" y="3538728"/>
            <a:ext cx="45720" cy="502920"/>
          </a:xfrm>
          <a:prstGeom prst="rect">
            <a:avLst/>
          </a:prstGeom>
          <a:solidFill>
            <a:srgbClr val="326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95544" y="3579876"/>
            <a:ext cx="2926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7E3D"/>
                </a:solidFill>
                <a:latin typeface="Arial"/>
                <a:ea typeface="微软雅黑"/>
                <a:cs typeface="微软雅黑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97296" y="3575304"/>
            <a:ext cx="2889504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单点突破：设备预测性维护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97296" y="3776472"/>
            <a:ext cx="2871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以动力站关键设备切入，跑通数据到决策完整闭环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4059936"/>
            <a:ext cx="8449056" cy="25603"/>
          </a:xfrm>
          <a:prstGeom prst="rect">
            <a:avLst/>
          </a:prstGeom>
          <a:solidFill>
            <a:srgbClr val="D5D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47472" y="4005072"/>
            <a:ext cx="109728" cy="109728"/>
          </a:xfrm>
          <a:prstGeom prst="ellipse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352" y="4151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0366A"/>
                </a:solidFill>
                <a:latin typeface="Arial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4398264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底座启动 · 试点验证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" y="4626864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数据打通与场景 PoC 并行推进</a:t>
            </a:r>
          </a:p>
        </p:txBody>
      </p:sp>
      <p:sp>
        <p:nvSpPr>
          <p:cNvPr id="72" name="Oval 71"/>
          <p:cNvSpPr/>
          <p:nvPr/>
        </p:nvSpPr>
        <p:spPr>
          <a:xfrm>
            <a:off x="3163824" y="4005072"/>
            <a:ext cx="109728" cy="109728"/>
          </a:xfrm>
          <a:prstGeom prst="ellipse">
            <a:avLst/>
          </a:prstGeom>
          <a:solidFill>
            <a:srgbClr val="2E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46704" y="4151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5FA0"/>
                </a:solidFill>
                <a:latin typeface="Arial"/>
                <a:ea typeface="微软雅黑"/>
                <a:cs typeface="微软雅黑"/>
              </a:rPr>
              <a:t>2027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46704" y="4398264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规模复制 · 组合成型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46704" y="4626864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成熟场景跨厂区复制，供应商组合定型</a:t>
            </a:r>
          </a:p>
        </p:txBody>
      </p:sp>
      <p:sp>
        <p:nvSpPr>
          <p:cNvPr id="76" name="Oval 75"/>
          <p:cNvSpPr/>
          <p:nvPr/>
        </p:nvSpPr>
        <p:spPr>
          <a:xfrm>
            <a:off x="5980176" y="4005072"/>
            <a:ext cx="109728" cy="109728"/>
          </a:xfrm>
          <a:prstGeom prst="ellipse">
            <a:avLst/>
          </a:prstGeom>
          <a:solidFill>
            <a:srgbClr val="FF7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6" y="4151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7E3D"/>
                </a:solidFill>
                <a:latin typeface="Arial"/>
                <a:ea typeface="微软雅黑"/>
                <a:cs typeface="微软雅黑"/>
              </a:rPr>
              <a:t>2028+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63056" y="4398264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生产力重塑 · 对外赋能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3056" y="4626864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>
                <a:solidFill>
                  <a:srgbClr val="6B7A90"/>
                </a:solidFill>
                <a:latin typeface="微软雅黑"/>
                <a:ea typeface="微软雅黑"/>
                <a:cs typeface="微软雅黑"/>
              </a:rPr>
              <a:t>AI 原生运营模式 + 客户端价值输出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-256032" y="4855464"/>
            <a:ext cx="213055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984" y="4873752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71231" y="487375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Confidential | 保密文件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