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77440" y="274320"/>
            <a:ext cx="6419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</a:pPr>
            <a:r>
              <a:rPr sz="190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AI 战略路径：从“点状试点”到“体系化生产力”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822960"/>
            <a:ext cx="8449055" cy="384048"/>
          </a:xfrm>
          <a:prstGeom prst="rect">
            <a:avLst/>
          </a:prstGeom>
          <a:gradFill rotWithShape="1">
            <a:gsLst>
              <a:gs pos="0">
                <a:srgbClr val="00366A"/>
              </a:gs>
              <a:gs pos="100000">
                <a:srgbClr val="3E74B8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1540"/>
            <a:ext cx="585216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数据筑基   →   场景验证   →   组合赋能   →   生产力重塑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7647" y="914400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750" b="1">
                <a:solidFill>
                  <a:srgbClr val="9EC2EC"/>
                </a:solidFill>
                <a:latin typeface="Arial"/>
                <a:ea typeface="微软雅黑"/>
                <a:cs typeface="微软雅黑"/>
              </a:rPr>
              <a:t>ASYMCHEM AI STRATEGY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35024"/>
            <a:ext cx="8449055" cy="420624"/>
          </a:xfrm>
          <a:prstGeom prst="rect">
            <a:avLst/>
          </a:prstGeom>
          <a:gradFill rotWithShape="1">
            <a:gsLst>
              <a:gs pos="0">
                <a:srgbClr val="FF7E3D"/>
              </a:gs>
              <a:gs pos="100000">
                <a:srgbClr val="FFB18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335024"/>
            <a:ext cx="51206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3853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7E3D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600200"/>
            <a:ext cx="51206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500" b="1">
                <a:solidFill>
                  <a:srgbClr val="606E84"/>
                </a:solidFill>
                <a:latin typeface="Arial"/>
                <a:ea typeface="微软雅黑"/>
                <a:cs typeface="微软雅黑"/>
              </a:rPr>
              <a:t>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38531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生产力重塑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140360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FFF2EA"/>
                </a:solidFill>
                <a:latin typeface="微软雅黑"/>
                <a:ea typeface="微软雅黑"/>
                <a:cs typeface="微软雅黑"/>
              </a:rPr>
              <a:t>AI 原生的生产运营模式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1586484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FFECE0"/>
                </a:solidFill>
                <a:latin typeface="微软雅黑"/>
                <a:ea typeface="微软雅黑"/>
                <a:cs typeface="微软雅黑"/>
              </a:rPr>
              <a:t>人机协同新分工   ·   决策链路自动化   ·   知识资产可复用   ·   组织能力升级</a:t>
            </a:r>
          </a:p>
        </p:txBody>
      </p:sp>
      <p:sp>
        <p:nvSpPr>
          <p:cNvPr id="14" name="Isosceles Triangle 13"/>
          <p:cNvSpPr/>
          <p:nvPr/>
        </p:nvSpPr>
        <p:spPr>
          <a:xfrm>
            <a:off x="2084831" y="1796795"/>
            <a:ext cx="100584" cy="68580"/>
          </a:xfrm>
          <a:prstGeom prst="triangle">
            <a:avLst/>
          </a:prstGeom>
          <a:solidFill>
            <a:srgbClr val="B4C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4462272" y="1796795"/>
            <a:ext cx="100584" cy="68580"/>
          </a:xfrm>
          <a:prstGeom prst="triangle">
            <a:avLst/>
          </a:prstGeom>
          <a:solidFill>
            <a:srgbClr val="B4C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6839712" y="1796795"/>
            <a:ext cx="100584" cy="68580"/>
          </a:xfrm>
          <a:prstGeom prst="triangle">
            <a:avLst/>
          </a:prstGeom>
          <a:solidFill>
            <a:srgbClr val="B4C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1920240"/>
            <a:ext cx="8449055" cy="274320"/>
          </a:xfrm>
          <a:prstGeom prst="rect">
            <a:avLst/>
          </a:prstGeom>
          <a:gradFill rotWithShape="1">
            <a:gsLst>
              <a:gs pos="0">
                <a:srgbClr val="00366A"/>
              </a:gs>
              <a:gs pos="100000">
                <a:srgbClr val="4A7CB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" y="1920240"/>
            <a:ext cx="512064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943100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2E5FA0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196138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六大 AI 应用场景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1" y="1975104"/>
            <a:ext cx="5394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80" b="0">
                <a:solidFill>
                  <a:srgbClr val="E4EEFB"/>
                </a:solidFill>
                <a:latin typeface="微软雅黑"/>
                <a:ea typeface="微软雅黑"/>
                <a:cs typeface="微软雅黑"/>
              </a:rPr>
              <a:t>短周期方向先出实证，强监管方向长期布局   ·   逐项形成落地方案，可独立立项、可组合推进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2267712"/>
            <a:ext cx="1351025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" y="2267712"/>
            <a:ext cx="1351025" cy="41148"/>
          </a:xfrm>
          <a:prstGeom prst="rect">
            <a:avLst/>
          </a:prstGeom>
          <a:solidFill>
            <a:srgbClr val="0036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99540" y="2372868"/>
            <a:ext cx="246888" cy="246888"/>
          </a:xfrm>
          <a:prstGeom prst="ellipse">
            <a:avLst/>
          </a:prstGeom>
          <a:solidFill>
            <a:srgbClr val="0036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9540" y="2416759"/>
            <a:ext cx="2468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" y="2656332"/>
            <a:ext cx="125958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报告撰写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7536" y="2894076"/>
            <a:ext cx="310896" cy="18288"/>
          </a:xfrm>
          <a:prstGeom prst="rect">
            <a:avLst/>
          </a:prstGeom>
          <a:solidFill>
            <a:srgbClr val="D8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958084"/>
            <a:ext cx="122301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Campaign / MOR / APR</a:t>
            </a:r>
          </a:p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多源数据自动汇编成稿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196" y="3278124"/>
            <a:ext cx="1195578" cy="150876"/>
          </a:xfrm>
          <a:prstGeom prst="roundRect">
            <a:avLst>
              <a:gd name="adj" fmla="val 35000"/>
            </a:avLst>
          </a:prstGeom>
          <a:solidFill>
            <a:srgbClr val="DB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5196" y="3302812"/>
            <a:ext cx="119557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68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工时 -50~70%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67077" y="2267712"/>
            <a:ext cx="1351025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67077" y="2267712"/>
            <a:ext cx="1351025" cy="41148"/>
          </a:xfrm>
          <a:prstGeom prst="rect">
            <a:avLst/>
          </a:prstGeom>
          <a:solidFill>
            <a:srgbClr val="11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319147" y="2372868"/>
            <a:ext cx="246888" cy="246888"/>
          </a:xfrm>
          <a:prstGeom prst="ellipse">
            <a:avLst/>
          </a:prstGeom>
          <a:solidFill>
            <a:srgbClr val="11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19147" y="2416759"/>
            <a:ext cx="2468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2797" y="2656332"/>
            <a:ext cx="125958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1507F"/>
                </a:solidFill>
                <a:latin typeface="微软雅黑"/>
                <a:ea typeface="微软雅黑"/>
                <a:cs typeface="微软雅黑"/>
              </a:rPr>
              <a:t>技术转移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7143" y="2894076"/>
            <a:ext cx="310896" cy="18288"/>
          </a:xfrm>
          <a:prstGeom prst="rect">
            <a:avLst/>
          </a:prstGeom>
          <a:solidFill>
            <a:srgbClr val="D8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31085" y="2958084"/>
            <a:ext cx="122301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工艺包审查 + 放大风险</a:t>
            </a:r>
          </a:p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识别，历史经验结构化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44801" y="3278124"/>
            <a:ext cx="1195578" cy="150876"/>
          </a:xfrm>
          <a:prstGeom prst="roundRect">
            <a:avLst>
              <a:gd name="adj" fmla="val 35000"/>
            </a:avLst>
          </a:prstGeom>
          <a:solidFill>
            <a:srgbClr val="DEE6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44801" y="3302812"/>
            <a:ext cx="119557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680" b="1">
                <a:solidFill>
                  <a:srgbClr val="11507F"/>
                </a:solidFill>
                <a:latin typeface="微软雅黑"/>
                <a:ea typeface="微软雅黑"/>
                <a:cs typeface="微软雅黑"/>
              </a:rPr>
              <a:t>NPI 周期 -30%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86683" y="2267712"/>
            <a:ext cx="1351025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86683" y="2267712"/>
            <a:ext cx="1351025" cy="41148"/>
          </a:xfrm>
          <a:prstGeom prst="rect">
            <a:avLst/>
          </a:prstGeom>
          <a:solidFill>
            <a:srgbClr val="2E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38752" y="2372868"/>
            <a:ext cx="246888" cy="246888"/>
          </a:xfrm>
          <a:prstGeom prst="ellipse">
            <a:avLst/>
          </a:prstGeom>
          <a:solidFill>
            <a:srgbClr val="2E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38752" y="2416759"/>
            <a:ext cx="2468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32403" y="2656332"/>
            <a:ext cx="125958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2E5FA0"/>
                </a:solidFill>
                <a:latin typeface="微软雅黑"/>
                <a:ea typeface="微软雅黑"/>
                <a:cs typeface="微软雅黑"/>
              </a:rPr>
              <a:t>设备管理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06748" y="2894076"/>
            <a:ext cx="310896" cy="18288"/>
          </a:xfrm>
          <a:prstGeom prst="rect">
            <a:avLst/>
          </a:prstGeom>
          <a:solidFill>
            <a:srgbClr val="D8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50691" y="2958084"/>
            <a:ext cx="122301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点检 / 备件 / 预测维护 /</a:t>
            </a:r>
          </a:p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验证 / 故障调查 五合一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64407" y="3278124"/>
            <a:ext cx="1195578" cy="150876"/>
          </a:xfrm>
          <a:prstGeom prst="roundRect">
            <a:avLst>
              <a:gd name="adj" fmla="val 35000"/>
            </a:avLst>
          </a:prstGeom>
          <a:solidFill>
            <a:srgbClr val="E2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64407" y="3302812"/>
            <a:ext cx="119557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680" b="1">
                <a:solidFill>
                  <a:srgbClr val="2E5FA0"/>
                </a:solidFill>
                <a:latin typeface="微软雅黑"/>
                <a:ea typeface="微软雅黑"/>
                <a:cs typeface="微软雅黑"/>
              </a:rPr>
              <a:t>非计划停机 -40%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06289" y="2267712"/>
            <a:ext cx="1351025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06289" y="2267712"/>
            <a:ext cx="1351025" cy="41148"/>
          </a:xfrm>
          <a:prstGeom prst="rect">
            <a:avLst/>
          </a:prstGeom>
          <a:solidFill>
            <a:srgbClr val="118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158358" y="2372868"/>
            <a:ext cx="246888" cy="246888"/>
          </a:xfrm>
          <a:prstGeom prst="ellipse">
            <a:avLst/>
          </a:prstGeom>
          <a:solidFill>
            <a:srgbClr val="118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58358" y="2416759"/>
            <a:ext cx="2468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52009" y="2656332"/>
            <a:ext cx="125958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187A8"/>
                </a:solidFill>
                <a:latin typeface="微软雅黑"/>
                <a:ea typeface="微软雅黑"/>
                <a:cs typeface="微软雅黑"/>
              </a:rPr>
              <a:t>视觉合规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26354" y="2894076"/>
            <a:ext cx="310896" cy="18288"/>
          </a:xfrm>
          <a:prstGeom prst="rect">
            <a:avLst/>
          </a:prstGeom>
          <a:solidFill>
            <a:srgbClr val="D8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70297" y="2958084"/>
            <a:ext cx="122301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车间视频流实时识别</a:t>
            </a:r>
          </a:p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SOP 关键动作执行偏差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684013" y="3278124"/>
            <a:ext cx="1195578" cy="150876"/>
          </a:xfrm>
          <a:prstGeom prst="roundRect">
            <a:avLst>
              <a:gd name="adj" fmla="val 35000"/>
            </a:avLst>
          </a:prstGeom>
          <a:solidFill>
            <a:srgbClr val="DE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84013" y="3302812"/>
            <a:ext cx="119557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680" b="1">
                <a:solidFill>
                  <a:srgbClr val="1187A8"/>
                </a:solidFill>
                <a:latin typeface="微软雅黑"/>
                <a:ea typeface="微软雅黑"/>
                <a:cs typeface="微软雅黑"/>
              </a:rPr>
              <a:t>巡检替代 30~50%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25895" y="2267712"/>
            <a:ext cx="1351025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25895" y="2267712"/>
            <a:ext cx="1351025" cy="41148"/>
          </a:xfrm>
          <a:prstGeom prst="rect">
            <a:avLst/>
          </a:prstGeom>
          <a:solidFill>
            <a:srgbClr val="C8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577964" y="2372868"/>
            <a:ext cx="246888" cy="246888"/>
          </a:xfrm>
          <a:prstGeom prst="ellipse">
            <a:avLst/>
          </a:prstGeom>
          <a:solidFill>
            <a:srgbClr val="C8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77964" y="2416759"/>
            <a:ext cx="2468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71615" y="2656332"/>
            <a:ext cx="125958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C86A2E"/>
                </a:solidFill>
                <a:latin typeface="微软雅黑"/>
                <a:ea typeface="微软雅黑"/>
                <a:cs typeface="微软雅黑"/>
              </a:rPr>
              <a:t>培训生成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45960" y="2894076"/>
            <a:ext cx="310896" cy="18288"/>
          </a:xfrm>
          <a:prstGeom prst="rect">
            <a:avLst/>
          </a:prstGeom>
          <a:solidFill>
            <a:srgbClr val="D8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89903" y="2958084"/>
            <a:ext cx="122301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SOP 一键生成数字人</a:t>
            </a:r>
          </a:p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讲解视频与配套考核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03619" y="3278124"/>
            <a:ext cx="1195578" cy="150876"/>
          </a:xfrm>
          <a:prstGeom prst="roundRect">
            <a:avLst>
              <a:gd name="adj" fmla="val 35000"/>
            </a:avLst>
          </a:prstGeom>
          <a:solidFill>
            <a:srgbClr val="F7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03619" y="3302812"/>
            <a:ext cx="119557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680" b="1">
                <a:solidFill>
                  <a:srgbClr val="C86A2E"/>
                </a:solidFill>
                <a:latin typeface="微软雅黑"/>
                <a:ea typeface="微软雅黑"/>
                <a:cs typeface="微软雅黑"/>
              </a:rPr>
              <a:t>2 周 → 1 天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45502" y="2267712"/>
            <a:ext cx="1351025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45502" y="2267712"/>
            <a:ext cx="1351025" cy="41148"/>
          </a:xfrm>
          <a:prstGeom prst="rect">
            <a:avLst/>
          </a:prstGeom>
          <a:solidFill>
            <a:srgbClr val="FF7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997571" y="2372868"/>
            <a:ext cx="246888" cy="246888"/>
          </a:xfrm>
          <a:prstGeom prst="ellipse">
            <a:avLst/>
          </a:prstGeom>
          <a:solidFill>
            <a:srgbClr val="FF7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97571" y="2416759"/>
            <a:ext cx="2468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91222" y="2656332"/>
            <a:ext cx="125958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FF7E3D"/>
                </a:solidFill>
                <a:latin typeface="微软雅黑"/>
                <a:ea typeface="微软雅黑"/>
                <a:cs typeface="微软雅黑"/>
              </a:rPr>
              <a:t>QC 放行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965567" y="2894076"/>
            <a:ext cx="310896" cy="18288"/>
          </a:xfrm>
          <a:prstGeom prst="rect">
            <a:avLst/>
          </a:prstGeom>
          <a:solidFill>
            <a:srgbClr val="D8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509510" y="2958084"/>
            <a:ext cx="122301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批次质量预测 + 报告</a:t>
            </a:r>
          </a:p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70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起草，BDCT 能力升级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523226" y="3278124"/>
            <a:ext cx="1195578" cy="150876"/>
          </a:xfrm>
          <a:prstGeom prst="roundRect">
            <a:avLst>
              <a:gd name="adj" fmla="val 35000"/>
            </a:avLst>
          </a:prstGeom>
          <a:solidFill>
            <a:srgbClr val="FF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23226" y="3302812"/>
            <a:ext cx="119557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680" b="1">
                <a:solidFill>
                  <a:srgbClr val="FF7E3D"/>
                </a:solidFill>
                <a:latin typeface="微软雅黑"/>
                <a:ea typeface="微软雅黑"/>
                <a:cs typeface="微软雅黑"/>
              </a:rPr>
              <a:t>放行加速 · 风险前置</a:t>
            </a:r>
          </a:p>
        </p:txBody>
      </p:sp>
      <p:sp>
        <p:nvSpPr>
          <p:cNvPr id="76" name="Isosceles Triangle 75"/>
          <p:cNvSpPr/>
          <p:nvPr/>
        </p:nvSpPr>
        <p:spPr>
          <a:xfrm>
            <a:off x="2084831" y="3497580"/>
            <a:ext cx="100584" cy="68580"/>
          </a:xfrm>
          <a:prstGeom prst="triangle">
            <a:avLst/>
          </a:prstGeom>
          <a:solidFill>
            <a:srgbClr val="B4C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Isosceles Triangle 76"/>
          <p:cNvSpPr/>
          <p:nvPr/>
        </p:nvSpPr>
        <p:spPr>
          <a:xfrm>
            <a:off x="4462272" y="3497580"/>
            <a:ext cx="100584" cy="68580"/>
          </a:xfrm>
          <a:prstGeom prst="triangle">
            <a:avLst/>
          </a:prstGeom>
          <a:solidFill>
            <a:srgbClr val="B4C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Isosceles Triangle 77"/>
          <p:cNvSpPr/>
          <p:nvPr/>
        </p:nvSpPr>
        <p:spPr>
          <a:xfrm>
            <a:off x="6839712" y="3497580"/>
            <a:ext cx="100584" cy="68580"/>
          </a:xfrm>
          <a:prstGeom prst="triangle">
            <a:avLst/>
          </a:prstGeom>
          <a:solidFill>
            <a:srgbClr val="B4C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47472" y="3602736"/>
            <a:ext cx="8449055" cy="420624"/>
          </a:xfrm>
          <a:prstGeom prst="rect">
            <a:avLst/>
          </a:prstGeom>
          <a:gradFill rotWithShape="1">
            <a:gsLst>
              <a:gs pos="0">
                <a:srgbClr val="00224A"/>
              </a:gs>
              <a:gs pos="100000">
                <a:srgbClr val="2A5A9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47472" y="3602736"/>
            <a:ext cx="51206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7472" y="3653028"/>
            <a:ext cx="5120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00366A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7472" y="3867911"/>
            <a:ext cx="51206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459" b="1">
                <a:solidFill>
                  <a:srgbClr val="606E84"/>
                </a:solidFill>
                <a:latin typeface="Arial"/>
                <a:ea typeface="微软雅黑"/>
                <a:cs typeface="微软雅黑"/>
              </a:rPr>
              <a:t>FOUNDATION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" y="365302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数据与平台底座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62072" y="36713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E4EEFB"/>
                </a:solidFill>
                <a:latin typeface="微软雅黑"/>
                <a:ea typeface="微软雅黑"/>
                <a:cs typeface="微软雅黑"/>
              </a:rPr>
              <a:t>数据打通 · 知识图谱 · 算力与合规框架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7552" y="3854196"/>
            <a:ext cx="749807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80" b="0">
                <a:solidFill>
                  <a:srgbClr val="C9DAF2"/>
                </a:solidFill>
                <a:latin typeface="微软雅黑"/>
                <a:ea typeface="微软雅黑"/>
                <a:cs typeface="微软雅黑"/>
              </a:rPr>
              <a:t>MES / QMS / LIMS / EAM 跨系统贯通   ·   专家经验与故障案例结构化   ·   GxP 验证路径与客户数据隔离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47472" y="4224528"/>
            <a:ext cx="8449055" cy="20116"/>
          </a:xfrm>
          <a:prstGeom prst="rect">
            <a:avLst/>
          </a:prstGeom>
          <a:solidFill>
            <a:srgbClr val="D8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47472" y="4178808"/>
            <a:ext cx="91440" cy="91440"/>
          </a:xfrm>
          <a:prstGeom prst="ellipse">
            <a:avLst/>
          </a:prstGeom>
          <a:solidFill>
            <a:srgbClr val="0036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2920" y="42931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00366A"/>
                </a:solidFill>
                <a:latin typeface="Arial"/>
                <a:ea typeface="微软雅黑"/>
                <a:cs typeface="微软雅黑"/>
              </a:rPr>
              <a:t>2026 H2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" y="448513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底座启动 · 试点验证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" y="4686300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60" b="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数据打通与场景 PoC 并行推进</a:t>
            </a:r>
          </a:p>
        </p:txBody>
      </p:sp>
      <p:sp>
        <p:nvSpPr>
          <p:cNvPr id="91" name="Oval 90"/>
          <p:cNvSpPr/>
          <p:nvPr/>
        </p:nvSpPr>
        <p:spPr>
          <a:xfrm>
            <a:off x="3163823" y="4178808"/>
            <a:ext cx="91440" cy="91440"/>
          </a:xfrm>
          <a:prstGeom prst="ellipse">
            <a:avLst/>
          </a:prstGeom>
          <a:solidFill>
            <a:srgbClr val="2E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319271" y="42931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E5FA0"/>
                </a:solidFill>
                <a:latin typeface="Arial"/>
                <a:ea typeface="微软雅黑"/>
                <a:cs typeface="微软雅黑"/>
              </a:rPr>
              <a:t>2027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1" y="448513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规模复制 · 组合成型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19271" y="4686300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60" b="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成熟场景跨厂区复制，能力沉淀</a:t>
            </a:r>
          </a:p>
        </p:txBody>
      </p:sp>
      <p:sp>
        <p:nvSpPr>
          <p:cNvPr id="95" name="Oval 94"/>
          <p:cNvSpPr/>
          <p:nvPr/>
        </p:nvSpPr>
        <p:spPr>
          <a:xfrm>
            <a:off x="5980175" y="4178808"/>
            <a:ext cx="91440" cy="91440"/>
          </a:xfrm>
          <a:prstGeom prst="ellipse">
            <a:avLst/>
          </a:prstGeom>
          <a:solidFill>
            <a:srgbClr val="FF7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135623" y="42931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FF7E3D"/>
                </a:solidFill>
                <a:latin typeface="Arial"/>
                <a:ea typeface="微软雅黑"/>
                <a:cs typeface="微软雅黑"/>
              </a:rPr>
              <a:t>2028+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35623" y="448513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00366A"/>
                </a:solidFill>
                <a:latin typeface="微软雅黑"/>
                <a:ea typeface="微软雅黑"/>
                <a:cs typeface="微软雅黑"/>
              </a:rPr>
              <a:t>生产力重塑 · 对外赋能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35623" y="4686300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60" b="0">
                <a:solidFill>
                  <a:srgbClr val="606E84"/>
                </a:solidFill>
                <a:latin typeface="微软雅黑"/>
                <a:ea typeface="微软雅黑"/>
                <a:cs typeface="微软雅黑"/>
              </a:rPr>
              <a:t>AI 原生运营 + 客户端价值输出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46304" y="4988052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65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www.asymchem.com.cn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03120" y="4988052"/>
            <a:ext cx="23774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65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Stock Code: 002821.SZ / 6821.HK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49440" y="4988052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6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Confidential | 保密文件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